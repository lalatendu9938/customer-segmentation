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9147" y="-17146"/>
            <a:ext cx="6253317" cy="3686015"/>
          </a:xfrm>
        </p:spPr>
        <p:txBody>
          <a:bodyPr>
            <a:noAutofit/>
          </a:bodyPr>
          <a:lstStyle/>
          <a:p>
            <a:r>
              <a:rPr lang="en-US" sz="4000" dirty="0">
                <a:latin typeface="Baskerville Old Face" panose="02020602080505020303" pitchFamily="18" charset="0"/>
              </a:rPr>
              <a:t>E-Commerce Customer Segmentation: Unlocking Value Through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gency FB" panose="020B0503020202020204" pitchFamily="34" charset="0"/>
              </a:rPr>
              <a:t>Data Analyst Trainee Program - Final Capstone Project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C8AF7D-ADBD-E432-F933-D18A33ACA2D3}"/>
              </a:ext>
            </a:extLst>
          </p:cNvPr>
          <p:cNvSpPr txBox="1"/>
          <p:nvPr/>
        </p:nvSpPr>
        <p:spPr>
          <a:xfrm>
            <a:off x="7455159" y="6130212"/>
            <a:ext cx="450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Book Antiqua" panose="02040602050305030304" pitchFamily="18" charset="0"/>
              </a:rPr>
              <a:t>Lalatendu Nilakantha Sahoo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DD1ACC-4601-CE72-E2C5-F5720C9B0A23}"/>
              </a:ext>
            </a:extLst>
          </p:cNvPr>
          <p:cNvSpPr txBox="1"/>
          <p:nvPr/>
        </p:nvSpPr>
        <p:spPr>
          <a:xfrm>
            <a:off x="1733939" y="1642188"/>
            <a:ext cx="87241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askerville Old Face" panose="02020602080505020303" pitchFamily="18" charset="0"/>
              </a:rPr>
              <a:t>Executive Summary: Applied RFM (Recency, Frequency, Monetary) modeling and K-Means clustering to 37,493 transaction records to identify four distinct customer personas, providing a data-driven blueprint for targeted marketing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1453857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0B0773-51A0-733F-06F0-75C1DB85D68D}"/>
              </a:ext>
            </a:extLst>
          </p:cNvPr>
          <p:cNvSpPr txBox="1"/>
          <p:nvPr/>
        </p:nvSpPr>
        <p:spPr>
          <a:xfrm>
            <a:off x="763555" y="643813"/>
            <a:ext cx="10664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dirty="0">
                <a:latin typeface="Baskerville Old Face" panose="02020602080505020303" pitchFamily="18" charset="0"/>
              </a:rPr>
              <a:t>Context &amp;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A554F-3B6B-9976-BD2A-AB71DC713D9A}"/>
              </a:ext>
            </a:extLst>
          </p:cNvPr>
          <p:cNvSpPr txBox="1"/>
          <p:nvPr/>
        </p:nvSpPr>
        <p:spPr>
          <a:xfrm>
            <a:off x="634482" y="1891061"/>
            <a:ext cx="112527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Business Problem</a:t>
            </a:r>
            <a:r>
              <a:rPr lang="en-US" dirty="0"/>
              <a:t>: A one-size-fits-all marketing approach wastes resources. The objective is to segment the customer base using historical purchasing behavior to drive personalized engagement and maximize ROI. 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Data Processing</a:t>
            </a:r>
            <a:r>
              <a:rPr lang="en-US" dirty="0"/>
              <a:t>: Ingested 62,551 raw transaction rows from the Online Retail Dataset. Cleaned data by removing null customer IDs, canceled orders, and negative values to isolate valid revenue. Final working dataset: 37,493 transaction records.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Algorithmic Approach</a:t>
            </a:r>
            <a:r>
              <a:rPr lang="en-US" dirty="0"/>
              <a:t>: Engineered RFM metrics (Recency, Frequency, Monetary Value) per customer. Scaled features using Standard Scaler to normalize variance. Applied K-Means Clustering (n=4) using Python and Scikit-Learn.</a:t>
            </a:r>
          </a:p>
        </p:txBody>
      </p:sp>
    </p:spTree>
    <p:extLst>
      <p:ext uri="{BB962C8B-B14F-4D97-AF65-F5344CB8AC3E}">
        <p14:creationId xmlns:p14="http://schemas.microsoft.com/office/powerpoint/2010/main" val="2754839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12D08-832E-1DFE-CCB5-A4CCFDF01BD5}"/>
              </a:ext>
            </a:extLst>
          </p:cNvPr>
          <p:cNvSpPr txBox="1"/>
          <p:nvPr/>
        </p:nvSpPr>
        <p:spPr>
          <a:xfrm>
            <a:off x="2976465" y="382555"/>
            <a:ext cx="6988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Baskerville Old Face" panose="02020602080505020303" pitchFamily="18" charset="0"/>
              </a:rPr>
              <a:t>The 4 Customer Personas (Key Findings)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3D3621-26F9-BBFF-93B8-1A413A4E4022}"/>
              </a:ext>
            </a:extLst>
          </p:cNvPr>
          <p:cNvSpPr txBox="1"/>
          <p:nvPr/>
        </p:nvSpPr>
        <p:spPr>
          <a:xfrm>
            <a:off x="653143" y="1390261"/>
            <a:ext cx="1140200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Cluster 0</a:t>
            </a:r>
            <a:r>
              <a:rPr lang="en-US" dirty="0"/>
              <a:t>: The VIPs (15 Customers)</a:t>
            </a:r>
          </a:p>
          <a:p>
            <a:r>
              <a:rPr lang="en-US" dirty="0"/>
              <a:t>Metrics: Avg Spend: $12,700 |Avg Frequency: 12.7 orders</a:t>
            </a:r>
          </a:p>
          <a:p>
            <a:r>
              <a:rPr lang="en-US" dirty="0"/>
              <a:t>Profile: High-value, highly loyal brand advocates who generate disproportionate revenue.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Cluster 1</a:t>
            </a:r>
            <a:r>
              <a:rPr lang="en-US" dirty="0"/>
              <a:t>: At-Risk / Casual (667 Customers)</a:t>
            </a:r>
          </a:p>
          <a:p>
            <a:r>
              <a:rPr lang="en-US" dirty="0"/>
              <a:t>Metrics: Avg Spend: $446 | Avg Recency: 39.3 days</a:t>
            </a:r>
          </a:p>
          <a:p>
            <a:r>
              <a:rPr lang="en-US" dirty="0"/>
              <a:t>Profile: The largest segment. Characterized by low spend and high churn risk (haven't purchased recently).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Cluster 2</a:t>
            </a:r>
            <a:r>
              <a:rPr lang="en-US" dirty="0"/>
              <a:t>: The Wholesale 'Whale' (1 Customer)</a:t>
            </a:r>
          </a:p>
          <a:p>
            <a:r>
              <a:rPr lang="en-US" dirty="0"/>
              <a:t>Metrics: Spend: $77,183 | Frequency: 1 order</a:t>
            </a:r>
          </a:p>
          <a:p>
            <a:r>
              <a:rPr lang="en-US" dirty="0"/>
              <a:t>Profile: A massive outlier representing B2B or wholesale purchasing behavior.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Cluster 3</a:t>
            </a:r>
            <a:r>
              <a:rPr lang="en-US" dirty="0"/>
              <a:t>: Recent Actives (428 Customers)</a:t>
            </a:r>
          </a:p>
          <a:p>
            <a:r>
              <a:rPr lang="en-US" dirty="0"/>
              <a:t>Metrics: Avg Spend: $888 | Avg Recency: 8.2 days</a:t>
            </a:r>
          </a:p>
          <a:p>
            <a:r>
              <a:rPr lang="en-US" dirty="0"/>
              <a:t>Profile: Healthy, engaged customers who bought recently and represent the core growth demographic.</a:t>
            </a:r>
          </a:p>
        </p:txBody>
      </p:sp>
    </p:spTree>
    <p:extLst>
      <p:ext uri="{BB962C8B-B14F-4D97-AF65-F5344CB8AC3E}">
        <p14:creationId xmlns:p14="http://schemas.microsoft.com/office/powerpoint/2010/main" val="518521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4B2D-4C2A-6C93-8F62-7FD4FA08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4" y="750445"/>
            <a:ext cx="3517567" cy="1527419"/>
          </a:xfrm>
        </p:spPr>
        <p:txBody>
          <a:bodyPr/>
          <a:lstStyle/>
          <a:p>
            <a:pPr algn="ctr"/>
            <a:r>
              <a:rPr lang="en-US" u="sng" dirty="0"/>
              <a:t>Visualizing the Segments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A1D372-6C89-533D-C833-8F55CB67E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9870" y="1097017"/>
            <a:ext cx="6802016" cy="50105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ACBF1-2D45-D771-8865-8C2519B25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>
                <a:latin typeface="Book Antiqua" panose="02040602050305030304" pitchFamily="18" charset="0"/>
              </a:rPr>
              <a:t>Key </a:t>
            </a:r>
            <a:r>
              <a:rPr lang="en-US" b="1" dirty="0">
                <a:latin typeface="Book Antiqua" panose="02040602050305030304" pitchFamily="18" charset="0"/>
              </a:rPr>
              <a:t>Chart Takeaways </a:t>
            </a:r>
            <a:r>
              <a:rPr lang="en-US" dirty="0"/>
              <a:t>:The visualization clearly maps the behavioral boundaries of our consumer base, highlighting the massive spending gap between the VIP group (Red) and the standard customer base (Blue/Purple).The $77k outlier (Green) required axis capping to properly visualize the density of the core consumer segments.</a:t>
            </a:r>
          </a:p>
        </p:txBody>
      </p:sp>
    </p:spTree>
    <p:extLst>
      <p:ext uri="{BB962C8B-B14F-4D97-AF65-F5344CB8AC3E}">
        <p14:creationId xmlns:p14="http://schemas.microsoft.com/office/powerpoint/2010/main" val="2323635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D72EE-E77B-CDEA-681A-187BA2EF33EC}"/>
              </a:ext>
            </a:extLst>
          </p:cNvPr>
          <p:cNvSpPr txBox="1"/>
          <p:nvPr/>
        </p:nvSpPr>
        <p:spPr>
          <a:xfrm>
            <a:off x="2985796" y="373224"/>
            <a:ext cx="6913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Baskerville Old Face" panose="02020602080505020303" pitchFamily="18" charset="0"/>
              </a:rPr>
              <a:t>Actionable Business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7D661-DEF7-FB10-F54F-DBD8B7BD05F7}"/>
              </a:ext>
            </a:extLst>
          </p:cNvPr>
          <p:cNvSpPr txBox="1"/>
          <p:nvPr/>
        </p:nvSpPr>
        <p:spPr>
          <a:xfrm>
            <a:off x="503853" y="1859339"/>
            <a:ext cx="113709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For VIPs (Cluster 0): </a:t>
            </a:r>
            <a:r>
              <a:rPr lang="en-US" dirty="0"/>
              <a:t>Implement a white-glove retention strategy. Offer early access to new product drops, exclusive loyalty tiers, and assign dedicated account managers.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For Recent Actives (Cluster 3): </a:t>
            </a:r>
            <a:r>
              <a:rPr lang="en-US" dirty="0"/>
              <a:t>Launch immediate cross-sell email campaigns. Capitalize on their recent engagement by offering bundle deals to push their lifetime value into the VIP tier.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For At-Risk (Cluster 1): </a:t>
            </a:r>
            <a:r>
              <a:rPr lang="en-US" dirty="0"/>
              <a:t>Deploy automated win-back campaigns. Send "We Miss You" emails containing time-sensitive, high-value discount codes to re-engage them before they churn completely.</a:t>
            </a:r>
          </a:p>
          <a:p>
            <a:endParaRPr lang="en-US" dirty="0"/>
          </a:p>
          <a:p>
            <a:r>
              <a:rPr lang="en-US" b="1" dirty="0">
                <a:latin typeface="Book Antiqua" panose="02040602050305030304" pitchFamily="18" charset="0"/>
              </a:rPr>
              <a:t>For Whales (Cluster 2): </a:t>
            </a:r>
            <a:r>
              <a:rPr lang="en-US" dirty="0"/>
              <a:t>Route these buyers directly to a specialized B2B sales team to negotiate wholesale contracts and secure recurring bulk orders.</a:t>
            </a:r>
          </a:p>
        </p:txBody>
      </p:sp>
    </p:spTree>
    <p:extLst>
      <p:ext uri="{BB962C8B-B14F-4D97-AF65-F5344CB8AC3E}">
        <p14:creationId xmlns:p14="http://schemas.microsoft.com/office/powerpoint/2010/main" val="8975989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{21CE7807-2B71-4463-B77F-23C3992CDCFC}TFf0a5ceae-4542-492d-822e-d65a94fb0e1e3b562c5a_win32-009a0557e699</Template>
  <TotalTime>83</TotalTime>
  <Words>512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Agency FB</vt:lpstr>
      <vt:lpstr>Baskerville Old Face</vt:lpstr>
      <vt:lpstr>Book Antiqua</vt:lpstr>
      <vt:lpstr>Bookman Old Style</vt:lpstr>
      <vt:lpstr>Calibri</vt:lpstr>
      <vt:lpstr>Franklin Gothic Book</vt:lpstr>
      <vt:lpstr>Custom</vt:lpstr>
      <vt:lpstr>E-Commerce Customer Segmentation: Unlocking Value Through Machine Learning</vt:lpstr>
      <vt:lpstr>PowerPoint Presentation</vt:lpstr>
      <vt:lpstr>PowerPoint Presentation</vt:lpstr>
      <vt:lpstr>PowerPoint Presentation</vt:lpstr>
      <vt:lpstr>Visualizing the Segments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Susmita Nayak</dc:creator>
  <cp:lastModifiedBy>Susmita Nayak</cp:lastModifiedBy>
  <cp:revision>2</cp:revision>
  <dcterms:created xsi:type="dcterms:W3CDTF">2026-10-24T10:02:09Z</dcterms:created>
  <dcterms:modified xsi:type="dcterms:W3CDTF">2026-10-24T11:25:35Z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